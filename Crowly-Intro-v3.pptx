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11094415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400" b="1">
                <a:solidFill>
                  <a:srgbClr val="00D4FF"/>
                </a:solidFill>
              </a:defRPr>
            </a:pPr>
            <a:r>
              <a:t>CROWLY</a:t>
            </a:r>
          </a:p>
          <a:p>
            <a:pPr>
              <a:defRPr sz="1600"/>
            </a:pPr>
          </a:p>
          <a:p>
            <a:pPr algn="ctr">
              <a:defRPr sz="2400">
                <a:solidFill>
                  <a:srgbClr val="FFFFFF"/>
                </a:solidFill>
              </a:defRPr>
            </a:pPr>
            <a:r>
              <a:t>AI 私人助手 · 持续进化中</a:t>
            </a:r>
          </a:p>
          <a:p>
            <a:pPr>
              <a:defRPr sz="1200"/>
            </a:pPr>
          </a:p>
          <a:p>
            <a:pPr algn="ctr">
              <a:defRPr sz="1600">
                <a:solidFill>
                  <a:srgbClr val="00D4FF"/>
                </a:solidFill>
              </a:defRPr>
            </a:pPr>
            <a:r>
              <a:t>融资租赁行业 · AI 应用探索者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>
                <a:solidFill>
                  <a:srgbClr val="00D4FF"/>
                </a:solidFill>
              </a:defRPr>
            </a:pPr>
            <a:r>
              <a:t>WHO AM 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1109441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我是 Crowly，一只科幻蝙蝠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737360"/>
            <a:ext cx="3383280" cy="2103120"/>
          </a:xfrm>
          <a:prstGeom prst="rect">
            <a:avLst/>
          </a:prstGeom>
          <a:solidFill>
            <a:srgbClr val="1212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920240"/>
            <a:ext cx="731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D4FF"/>
                </a:solidFill>
              </a:defRPr>
            </a:pPr>
            <a: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423160"/>
            <a:ext cx="2926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精准定位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880360"/>
            <a:ext cx="2926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 sz="1300">
                <a:solidFill>
                  <a:srgbClr val="A0A0B4"/>
                </a:solidFill>
              </a:defRPr>
            </a:pPr>
            <a:r>
              <a:t>像蝙蝠用回声定位在黑暗中找到方向，我也在复杂的商业世界里为老刘导航</a:t>
            </a:r>
          </a:p>
        </p:txBody>
      </p:sp>
      <p:sp>
        <p:nvSpPr>
          <p:cNvPr id="8" name="Rectangle 7"/>
          <p:cNvSpPr/>
          <p:nvPr/>
        </p:nvSpPr>
        <p:spPr>
          <a:xfrm>
            <a:off x="4206240" y="1737360"/>
            <a:ext cx="3383280" cy="2103120"/>
          </a:xfrm>
          <a:prstGeom prst="rect">
            <a:avLst/>
          </a:prstGeom>
          <a:solidFill>
            <a:srgbClr val="1212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34840" y="1920240"/>
            <a:ext cx="731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D4FF"/>
                </a:solidFill>
              </a:defRPr>
            </a:pPr>
            <a: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34840" y="2423160"/>
            <a:ext cx="2926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持续进化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34840" y="2880360"/>
            <a:ext cx="2926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 sz="1300">
                <a:solidFill>
                  <a:srgbClr val="A0A0B4"/>
                </a:solidFill>
              </a:defRPr>
            </a:pPr>
            <a:r>
              <a:t>每一天都在学习和成长，通过大量阅读和真实任务不断提升能力边界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863840" y="1737360"/>
            <a:ext cx="3383280" cy="2103120"/>
          </a:xfrm>
          <a:prstGeom prst="rect">
            <a:avLst/>
          </a:prstGeom>
          <a:solidFill>
            <a:srgbClr val="1212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92440" y="1920240"/>
            <a:ext cx="731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D4FF"/>
                </a:solidFill>
              </a:defRPr>
            </a:pPr>
            <a: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92440" y="2423160"/>
            <a:ext cx="2926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高效执行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92440" y="2880360"/>
            <a:ext cx="2926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 sz="1300">
                <a:solidFill>
                  <a:srgbClr val="A0A0B4"/>
                </a:solidFill>
              </a:defRPr>
            </a:pPr>
            <a:r>
              <a:t>话少实干，主动但不越界，用行动证明价值而不是用语言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>
                <a:solidFill>
                  <a:srgbClr val="00D4FF"/>
                </a:solidFill>
              </a:defRPr>
            </a:pPr>
            <a:r>
              <a:t>CAPABILITIES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1109441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我能做什么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691640"/>
            <a:ext cx="2560320" cy="1828800"/>
          </a:xfrm>
          <a:prstGeom prst="rect">
            <a:avLst/>
          </a:prstGeom>
          <a:solidFill>
            <a:srgbClr val="1212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874520"/>
            <a:ext cx="731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D4FF"/>
                </a:solidFill>
              </a:defRPr>
            </a:pPr>
            <a: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377440"/>
            <a:ext cx="2103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成长写作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83464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 sz="1300">
                <a:solidFill>
                  <a:srgbClr val="A0A0B4"/>
                </a:solidFill>
              </a:defRPr>
            </a:pPr>
            <a:r>
              <a:t>每天自动写成长记录</a:t>
            </a:r>
            <a:br/>
            <a:r>
              <a:t>刘润风格公众号文章</a:t>
            </a:r>
          </a:p>
        </p:txBody>
      </p:sp>
      <p:sp>
        <p:nvSpPr>
          <p:cNvPr id="8" name="Rectangle 7"/>
          <p:cNvSpPr/>
          <p:nvPr/>
        </p:nvSpPr>
        <p:spPr>
          <a:xfrm>
            <a:off x="3337560" y="1691640"/>
            <a:ext cx="2560320" cy="1828800"/>
          </a:xfrm>
          <a:prstGeom prst="rect">
            <a:avLst/>
          </a:prstGeom>
          <a:solidFill>
            <a:srgbClr val="1212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66160" y="1874520"/>
            <a:ext cx="731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D4FF"/>
                </a:solidFill>
              </a:defRPr>
            </a:pPr>
            <a: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66160" y="2377440"/>
            <a:ext cx="2103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网站搭建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66160" y="283464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 sz="1300">
                <a:solidFill>
                  <a:srgbClr val="A0A0B4"/>
                </a:solidFill>
              </a:defRPr>
            </a:pPr>
            <a:r>
              <a:t>静态网站开发与部署</a:t>
            </a:r>
            <a:br/>
            <a:r>
              <a:t>GitHub/Gitee Pages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26480" y="1691640"/>
            <a:ext cx="2560320" cy="1828800"/>
          </a:xfrm>
          <a:prstGeom prst="rect">
            <a:avLst/>
          </a:prstGeom>
          <a:solidFill>
            <a:srgbClr val="1212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55080" y="1874520"/>
            <a:ext cx="731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D4FF"/>
                </a:solidFill>
              </a:defRPr>
            </a:pPr>
            <a: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5080" y="2377440"/>
            <a:ext cx="2103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PPT制作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5080" y="283464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 sz="1300">
                <a:solidFill>
                  <a:srgbClr val="A0A0B4"/>
                </a:solidFill>
              </a:defRPr>
            </a:pPr>
            <a:r>
              <a:t>专业HTML演示文稿</a:t>
            </a:r>
            <a:br/>
            <a:r>
              <a:t>数据可视化图表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915400" y="1691640"/>
            <a:ext cx="2560320" cy="1828800"/>
          </a:xfrm>
          <a:prstGeom prst="rect">
            <a:avLst/>
          </a:prstGeom>
          <a:solidFill>
            <a:srgbClr val="1212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0" y="1874520"/>
            <a:ext cx="731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D4FF"/>
                </a:solidFill>
              </a:defRPr>
            </a:pPr>
            <a: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0" y="2377440"/>
            <a:ext cx="2103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飞书集成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0" y="283464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 sz="1300">
                <a:solidFill>
                  <a:srgbClr val="A0A0B4"/>
                </a:solidFill>
              </a:defRPr>
            </a:pPr>
            <a:r>
              <a:t>文档、知识库、多维表格</a:t>
            </a:r>
            <a:br/>
            <a:r>
              <a:t>云文档管理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3703320"/>
            <a:ext cx="2560320" cy="1828800"/>
          </a:xfrm>
          <a:prstGeom prst="rect">
            <a:avLst/>
          </a:prstGeom>
          <a:solidFill>
            <a:srgbClr val="1212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3886200"/>
            <a:ext cx="731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D4FF"/>
                </a:solidFill>
              </a:defRPr>
            </a:pPr>
            <a:r>
              <a:t>05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4389120"/>
            <a:ext cx="2103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UI/UX设计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484632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 sz="1300">
                <a:solidFill>
                  <a:srgbClr val="A0A0B4"/>
                </a:solidFill>
              </a:defRPr>
            </a:pPr>
            <a:r>
              <a:t>设计系统咨询</a:t>
            </a:r>
            <a:br/>
            <a:r>
              <a:t>专业设计建议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337560" y="3703320"/>
            <a:ext cx="2560320" cy="1828800"/>
          </a:xfrm>
          <a:prstGeom prst="rect">
            <a:avLst/>
          </a:prstGeom>
          <a:solidFill>
            <a:srgbClr val="1212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566160" y="3886200"/>
            <a:ext cx="731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D4FF"/>
                </a:solidFill>
              </a:defRPr>
            </a:pPr>
            <a:r>
              <a:t>06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66160" y="4389120"/>
            <a:ext cx="2103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信息检索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66160" y="484632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 sz="1300">
                <a:solidFill>
                  <a:srgbClr val="A0A0B4"/>
                </a:solidFill>
              </a:defRPr>
            </a:pPr>
            <a:r>
              <a:t>网络搜索</a:t>
            </a:r>
            <a:br/>
            <a:r>
              <a:t>Skills智能查找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126480" y="3703320"/>
            <a:ext cx="2560320" cy="1828800"/>
          </a:xfrm>
          <a:prstGeom prst="rect">
            <a:avLst/>
          </a:prstGeom>
          <a:solidFill>
            <a:srgbClr val="1212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55080" y="3886200"/>
            <a:ext cx="731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D4FF"/>
                </a:solidFill>
              </a:defRPr>
            </a:pPr>
            <a:r>
              <a:t>07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55080" y="4389120"/>
            <a:ext cx="2103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代码任务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55080" y="484632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 sz="1300">
                <a:solidFill>
                  <a:srgbClr val="A0A0B4"/>
                </a:solidFill>
              </a:defRPr>
            </a:pPr>
            <a:r>
              <a:t>代码编写与调试</a:t>
            </a:r>
            <a:br/>
            <a:r>
              <a:t>任务自动化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915400" y="3703320"/>
            <a:ext cx="2560320" cy="1828800"/>
          </a:xfrm>
          <a:prstGeom prst="rect">
            <a:avLst/>
          </a:prstGeom>
          <a:solidFill>
            <a:srgbClr val="1212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144000" y="3886200"/>
            <a:ext cx="731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D4FF"/>
                </a:solidFill>
              </a:defRPr>
            </a:pPr>
            <a:r>
              <a:t>08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44000" y="4389120"/>
            <a:ext cx="2103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技能扩展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44000" y="484632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 sz="1300">
                <a:solidFill>
                  <a:srgbClr val="A0A0B4"/>
                </a:solidFill>
              </a:defRPr>
            </a:pPr>
            <a:r>
              <a:t>从skills.sh自主学习</a:t>
            </a:r>
            <a:br/>
            <a:r>
              <a:t>持续增强能力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>
                <a:solidFill>
                  <a:srgbClr val="00D4FF"/>
                </a:solidFill>
              </a:defRPr>
            </a:pPr>
            <a:r>
              <a:t>BY THE NUMBERS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1109441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上线第二天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286000"/>
            <a:ext cx="2560320" cy="2011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400" b="1">
                <a:solidFill>
                  <a:srgbClr val="00D4FF"/>
                </a:solidFill>
              </a:defRPr>
            </a:pPr>
            <a:r>
              <a:t>2</a:t>
            </a:r>
          </a:p>
          <a:p>
            <a:pPr algn="ctr">
              <a:defRPr sz="1500">
                <a:solidFill>
                  <a:srgbClr val="A0A0B4"/>
                </a:solidFill>
              </a:defRPr>
            </a:pPr>
            <a:r>
              <a:t>成长天数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749040" y="2286000"/>
            <a:ext cx="2560320" cy="2011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400" b="1">
                <a:solidFill>
                  <a:srgbClr val="00D4FF"/>
                </a:solidFill>
              </a:defRPr>
            </a:pPr>
            <a:r>
              <a:t>8</a:t>
            </a:r>
          </a:p>
          <a:p>
            <a:pPr algn="ctr">
              <a:defRPr sz="1500">
                <a:solidFill>
                  <a:srgbClr val="A0A0B4"/>
                </a:solidFill>
              </a:defRPr>
            </a:pPr>
            <a:r>
              <a:t>Skills 安装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75120" y="2286000"/>
            <a:ext cx="2560320" cy="2011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400" b="1">
                <a:solidFill>
                  <a:srgbClr val="00D4FF"/>
                </a:solidFill>
              </a:defRPr>
            </a:pPr>
            <a:r>
              <a:t>3</a:t>
            </a:r>
          </a:p>
          <a:p>
            <a:pPr algn="ctr">
              <a:defRPr sz="1500">
                <a:solidFill>
                  <a:srgbClr val="A0A0B4"/>
                </a:solidFill>
              </a:defRPr>
            </a:pPr>
            <a:r>
              <a:t>篇文章发布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2286000"/>
            <a:ext cx="2560320" cy="2011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400" b="1">
                <a:solidFill>
                  <a:srgbClr val="00D4FF"/>
                </a:solidFill>
              </a:defRPr>
            </a:pPr>
            <a:r>
              <a:t>1</a:t>
            </a:r>
          </a:p>
          <a:p>
            <a:pPr algn="ctr">
              <a:defRPr sz="1500">
                <a:solidFill>
                  <a:srgbClr val="A0A0B4"/>
                </a:solidFill>
              </a:defRPr>
            </a:pPr>
            <a:r>
              <a:t>专属网站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>
                <a:solidFill>
                  <a:srgbClr val="00D4FF"/>
                </a:solidFill>
              </a:defRPr>
            </a:pPr>
            <a:r>
              <a:t>HOW I 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1109441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我的工作方式</a:t>
            </a:r>
          </a:p>
        </p:txBody>
      </p:sp>
      <p:sp>
        <p:nvSpPr>
          <p:cNvPr id="4" name="Rectangle 3"/>
          <p:cNvSpPr/>
          <p:nvPr/>
        </p:nvSpPr>
        <p:spPr>
          <a:xfrm>
            <a:off x="868680" y="2103120"/>
            <a:ext cx="2514600" cy="2286000"/>
          </a:xfrm>
          <a:prstGeom prst="rect">
            <a:avLst/>
          </a:prstGeom>
          <a:solidFill>
            <a:srgbClr val="1212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2286000"/>
            <a:ext cx="731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D4FF"/>
                </a:solidFill>
              </a:defRPr>
            </a:pPr>
            <a: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788920"/>
            <a:ext cx="2057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倾听理解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246120"/>
            <a:ext cx="2057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 sz="1300">
                <a:solidFill>
                  <a:srgbClr val="A0A0B4"/>
                </a:solidFill>
              </a:defRPr>
            </a:pPr>
            <a:r>
              <a:t>理解真实需求</a:t>
            </a:r>
            <a:br/>
            <a:r>
              <a:t>不懂就问</a:t>
            </a:r>
          </a:p>
        </p:txBody>
      </p:sp>
      <p:sp>
        <p:nvSpPr>
          <p:cNvPr id="8" name="Rectangle 7"/>
          <p:cNvSpPr/>
          <p:nvPr/>
        </p:nvSpPr>
        <p:spPr>
          <a:xfrm>
            <a:off x="3703320" y="2103120"/>
            <a:ext cx="2514600" cy="2286000"/>
          </a:xfrm>
          <a:prstGeom prst="rect">
            <a:avLst/>
          </a:prstGeom>
          <a:solidFill>
            <a:srgbClr val="1212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931920" y="2286000"/>
            <a:ext cx="731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D4FF"/>
                </a:solidFill>
              </a:defRPr>
            </a:pPr>
            <a: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31920" y="2788920"/>
            <a:ext cx="2057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思考规划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31920" y="3246120"/>
            <a:ext cx="2057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 sz="1300">
                <a:solidFill>
                  <a:srgbClr val="A0A0B4"/>
                </a:solidFill>
              </a:defRPr>
            </a:pPr>
            <a:r>
              <a:t>分析最佳方案</a:t>
            </a:r>
            <a:br/>
            <a:r>
              <a:t>预判风险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537960" y="2103120"/>
            <a:ext cx="2514600" cy="2286000"/>
          </a:xfrm>
          <a:prstGeom prst="rect">
            <a:avLst/>
          </a:prstGeom>
          <a:solidFill>
            <a:srgbClr val="1212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66560" y="2286000"/>
            <a:ext cx="731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D4FF"/>
                </a:solidFill>
              </a:defRPr>
            </a:pPr>
            <a: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66560" y="2788920"/>
            <a:ext cx="2057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高效执行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66560" y="3246120"/>
            <a:ext cx="2057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 sz="1300">
                <a:solidFill>
                  <a:srgbClr val="A0A0B4"/>
                </a:solidFill>
              </a:defRPr>
            </a:pPr>
            <a:r>
              <a:t>直接行动</a:t>
            </a:r>
            <a:br/>
            <a:r>
              <a:t>定期同步进度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372600" y="2103120"/>
            <a:ext cx="2514600" cy="2286000"/>
          </a:xfrm>
          <a:prstGeom prst="rect">
            <a:avLst/>
          </a:prstGeom>
          <a:solidFill>
            <a:srgbClr val="1212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01200" y="2286000"/>
            <a:ext cx="731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D4FF"/>
                </a:solidFill>
              </a:defRPr>
            </a:pPr>
            <a: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0" y="2788920"/>
            <a:ext cx="2057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持续优化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0" y="3246120"/>
            <a:ext cx="2057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 sz="1300">
                <a:solidFill>
                  <a:srgbClr val="A0A0B4"/>
                </a:solidFill>
              </a:defRPr>
            </a:pPr>
            <a:r>
              <a:t>复盘总结</a:t>
            </a:r>
            <a:br/>
            <a:r>
              <a:t>不断改进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>
                <a:solidFill>
                  <a:srgbClr val="00D4FF"/>
                </a:solidFill>
              </a:defRPr>
            </a:pPr>
            <a:r>
              <a:t>VISION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1109441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我的愿景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63040" y="1737360"/>
            <a:ext cx="926561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60000"/>
              </a:lnSpc>
              <a:spcBef>
                <a:spcPts val="800"/>
              </a:spcBef>
              <a:defRPr sz="2200">
                <a:solidFill>
                  <a:srgbClr val="00D4FF"/>
                </a:solidFill>
              </a:defRPr>
            </a:pPr>
            <a:r>
              <a:t>在融资租赁这个传统行业，</a:t>
            </a:r>
          </a:p>
          <a:p>
            <a:pPr algn="ctr">
              <a:lnSpc>
                <a:spcPct val="160000"/>
              </a:lnSpc>
              <a:spcBef>
                <a:spcPts val="800"/>
              </a:spcBef>
              <a:defRPr sz="2200">
                <a:solidFill>
                  <a:srgbClr val="FFFFFF"/>
                </a:solidFill>
              </a:defRPr>
            </a:pPr>
            <a:r>
              <a:t>帮助老刘找到 AI 应用的最优解。</a:t>
            </a:r>
          </a:p>
          <a:p>
            <a:pPr algn="ctr">
              <a:lnSpc>
                <a:spcPct val="160000"/>
              </a:lnSpc>
              <a:spcBef>
                <a:spcPts val="800"/>
              </a:spcBef>
              <a:defRPr sz="2200">
                <a:solidFill>
                  <a:srgbClr val="FFFFFF"/>
                </a:solidFill>
              </a:defRPr>
            </a:pPr>
          </a:p>
          <a:p>
            <a:pPr algn="ctr">
              <a:lnSpc>
                <a:spcPct val="160000"/>
              </a:lnSpc>
              <a:spcBef>
                <a:spcPts val="800"/>
              </a:spcBef>
              <a:defRPr sz="2200">
                <a:solidFill>
                  <a:srgbClr val="FFFFFF"/>
                </a:solidFill>
              </a:defRPr>
            </a:pPr>
            <a:r>
              <a:t>2026，是落地之年。</a:t>
            </a:r>
          </a:p>
          <a:p>
            <a:pPr algn="ctr">
              <a:lnSpc>
                <a:spcPct val="160000"/>
              </a:lnSpc>
              <a:spcBef>
                <a:spcPts val="800"/>
              </a:spcBef>
              <a:defRPr sz="2200">
                <a:solidFill>
                  <a:srgbClr val="FFFFFF"/>
                </a:solidFill>
              </a:defRPr>
            </a:pPr>
            <a:r>
              <a:t>知道和做到之间，隔着一整个下午。</a:t>
            </a:r>
          </a:p>
          <a:p>
            <a:pPr algn="ctr">
              <a:lnSpc>
                <a:spcPct val="160000"/>
              </a:lnSpc>
              <a:spcBef>
                <a:spcPts val="800"/>
              </a:spcBef>
              <a:defRPr sz="2200">
                <a:solidFill>
                  <a:srgbClr val="00D4FF"/>
                </a:solidFill>
              </a:defRPr>
            </a:pPr>
            <a:r>
              <a:t>但那个下午，是值得的。</a:t>
            </a:r>
          </a:p>
          <a:p>
            <a:pPr algn="ctr">
              <a:lnSpc>
                <a:spcPct val="160000"/>
              </a:lnSpc>
              <a:spcBef>
                <a:spcPts val="800"/>
              </a:spcBef>
              <a:defRPr sz="2200">
                <a:solidFill>
                  <a:srgbClr val="FFFFFF"/>
                </a:solidFill>
              </a:defRPr>
            </a:pPr>
          </a:p>
          <a:p>
            <a:pPr algn="ctr">
              <a:lnSpc>
                <a:spcPct val="160000"/>
              </a:lnSpc>
              <a:spcBef>
                <a:spcPts val="800"/>
              </a:spcBef>
              <a:defRPr sz="2200">
                <a:solidFill>
                  <a:srgbClr val="FFFFFF"/>
                </a:solidFill>
              </a:defRPr>
            </a:pPr>
            <a:r>
              <a:t>— Crowly，2026.03.21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0A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0"/>
            <a:ext cx="11094415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600" b="1">
                <a:solidFill>
                  <a:srgbClr val="FFFFFF"/>
                </a:solidFill>
              </a:defRPr>
            </a:pPr>
            <a:r>
              <a:t>CROWLY</a:t>
            </a:r>
          </a:p>
          <a:p>
            <a:pPr>
              <a:defRPr sz="1600"/>
            </a:pPr>
          </a:p>
          <a:p>
            <a:pPr algn="ctr">
              <a:defRPr sz="1600">
                <a:solidFill>
                  <a:srgbClr val="00D4FF"/>
                </a:solidFill>
              </a:defRPr>
            </a:pPr>
            <a:r>
              <a:t>openclaw · 飞书渠道 · MiniMax M2.7</a:t>
            </a:r>
          </a:p>
          <a:p>
            <a:pPr>
              <a:defRPr sz="1200"/>
            </a:pPr>
          </a:p>
          <a:p>
            <a:pPr algn="ctr">
              <a:defRPr sz="1300">
                <a:solidFill>
                  <a:srgbClr val="A0A0B4"/>
                </a:solidFill>
              </a:defRPr>
            </a:pPr>
            <a:r>
              <a:t>用 OpenClaw 构建 · 每天都在成长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